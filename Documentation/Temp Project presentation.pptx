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jpg" ContentType="image/jpeg"/>
  <Default Extension="bin" ContentType="application/vnd.openxmlformats-officedocument.oleObject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docProps/custom.xml" ContentType="application/vnd.openxmlformats-officedocument.custom-properties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9.xml" ContentType="application/vnd.openxmlformats-officedocument.presentationml.slideLayout+xml"/>
  <Override PartName="/customXml/itemProps1.xml" ContentType="application/vnd.openxmlformats-officedocument.customXmlProperties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3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customXml/itemProps3.xml" ContentType="application/vnd.openxmlformats-officedocument.customXmlProperties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notesSlides/notesSlide7.xml" ContentType="application/vnd.openxmlformats-officedocument.presentationml.notesSlide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trictFirstAndLastChars="0">
  <p:sldMasterIdLst>
    <p:sldMasterId id="2147483648" r:id="rId4"/>
  </p:sldMasterIdLst>
  <p:notesMasterIdLst>
    <p:notesMasterId r:id="rId1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/>
  <p:notesSz cx="6858000" cy="9144000"/>
  <p:custDataLst>
    <p:custData r:id="rId1"/>
    <p:custData r:id="rId2"/>
    <p:custData r:id="rId3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5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5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5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5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5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5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5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5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5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90" d="100"/>
          <a:sy n="90" d="100"/>
        </p:scale>
        <p:origin x="546" y="96"/>
      </p:cViewPr>
      <p:guideLst>
        <p:guide pos="792" orient="horz"/>
        <p:guide pos="192"/>
        <p:guide pos="108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6" Type="http://schemas.openxmlformats.org/officeDocument/2006/relationships/theme" Target="theme/theme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 /><Relationship Id="rId20" Type="http://schemas.openxmlformats.org/officeDocument/2006/relationships/tableStyles" Target="tableStyles.xml" /><Relationship Id="rId2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512827" name="Google Shape;3;n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1230513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5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5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5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5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5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5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5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5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5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24829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533400" y="763588"/>
            <a:ext cx="6704013" cy="3771900"/>
          </a:xfrm>
        </p:spPr>
      </p:sp>
      <p:sp>
        <p:nvSpPr>
          <p:cNvPr id="21427706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b="1"/>
              <a:t>Let's delve deeper into the exciting world of sustainability and AI.</a:t>
            </a:r>
            <a:endParaRPr lang="en-US"/>
          </a:p>
          <a:p>
            <a:pPr>
              <a:defRPr/>
            </a:pPr>
            <a:r>
              <a:rPr lang="en-US"/>
              <a:t>In this chapter, we'll explore how artificial intelligence can be a powerful tool for addressing environmental challenges and promoting sustainable practices. We'll discuss specific applications of AI in various sectors and analyze its potential to drive positive change.</a:t>
            </a:r>
            <a:endParaRPr/>
          </a:p>
          <a:p>
            <a:pPr>
              <a:defRPr/>
            </a:pPr>
            <a:r>
              <a:rPr lang="en-US" b="1"/>
              <a:t>Get ready to discover the innovative ways AI is contributing to a more sustainable future!</a:t>
            </a:r>
            <a:endParaRPr lang="en-US"/>
          </a:p>
          <a:p>
            <a:pPr marL="158750" indent="0">
              <a:buNone/>
              <a:defRPr/>
            </a:pPr>
            <a:endParaRPr lang="en-US" b="1"/>
          </a:p>
        </p:txBody>
      </p:sp>
      <p:sp>
        <p:nvSpPr>
          <p:cNvPr id="911793893" name="Slide Number Placeholder 3"/>
          <p:cNvSpPr>
            <a:spLocks noGrp="1"/>
          </p:cNvSpPr>
          <p:nvPr>
            <p:ph type="sldNum"/>
          </p:nvPr>
        </p:nvSpPr>
        <p:spPr bwMode="auto"/>
        <p:txBody>
          <a:bodyPr/>
          <a:lstStyle/>
          <a:p>
            <a:pPr algn="r">
              <a:defRPr/>
            </a:pPr>
            <a:fld id="{023E65BA-FB28-47C4-A217-44F00343302E}" type="slidenum">
              <a:rPr lang="en-US" sz="1400" b="0" strike="noStrike" spc="-1">
                <a:latin typeface="Times New Roman"/>
              </a:rPr>
              <a:t>1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5380530" name="Google Shape;58;g5fab984687_2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/>
            </a:pPr>
            <a:r>
              <a:rPr lang="en-US" b="1"/>
              <a:t>Let's outline what you'll learn in this presentation.</a:t>
            </a:r>
            <a:endParaRPr lang="en-US"/>
          </a:p>
          <a:p>
            <a:pPr>
              <a:defRPr/>
            </a:pPr>
            <a:r>
              <a:rPr lang="en-US"/>
              <a:t>By the end, you'll be able to: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Understand how AI helps solve problems like climate change, resource depletion, and biodiversity loss.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Identify key AI uses in energy efficiency, waste management, and climate change.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Analyze AI's role in sustainable agriculture and cities.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Evaluate AI's use in environmental monitoring using satellites, real-time data, and predictions.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/>
              <a:t>Apply AI strategies in logistics and transportation to make them more sustainable.</a:t>
            </a:r>
            <a:endParaRPr/>
          </a:p>
          <a:p>
            <a:pPr>
              <a:defRPr/>
            </a:pPr>
            <a:r>
              <a:rPr lang="en-US" b="1"/>
              <a:t>Get ready to discover how AI can help create a greener future!</a:t>
            </a:r>
            <a:endParaRPr lang="en-US"/>
          </a:p>
          <a:p>
            <a:pPr marL="0" indent="0">
              <a:buNone/>
              <a:defRPr/>
            </a:pPr>
            <a:endParaRPr lang="en-US" b="1"/>
          </a:p>
        </p:txBody>
      </p:sp>
      <p:sp>
        <p:nvSpPr>
          <p:cNvPr id="1704632122" name="Google Shape;59;g5fab984687_2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841867" name="Google Shape;58;g5fab984687_2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/>
            </a:pPr>
            <a:r>
              <a:rPr lang="en-US" b="1"/>
              <a:t>Sustainability and AI</a:t>
            </a:r>
            <a:endParaRPr lang="en-US"/>
          </a:p>
          <a:p>
            <a:pPr>
              <a:defRPr/>
            </a:pPr>
            <a:r>
              <a:rPr lang="en-US" b="1"/>
              <a:t>Sustainability</a:t>
            </a:r>
            <a:r>
              <a:rPr lang="en-US"/>
              <a:t> is important because it helps meet our needs now and in the future. It includes protecting the environment, reducing pollution, and improving economic and social well-being.</a:t>
            </a:r>
            <a:endParaRPr/>
          </a:p>
          <a:p>
            <a:pPr>
              <a:defRPr/>
            </a:pPr>
            <a:r>
              <a:rPr lang="en-US" b="1"/>
              <a:t>AI can help us achieve sustainability.</a:t>
            </a:r>
            <a:r>
              <a:rPr lang="en-US"/>
              <a:t> AI can process data, make predictions, and optimize systems to solve problems like resource management, environmental conservation, and energy efficiency.</a:t>
            </a:r>
            <a:endParaRPr/>
          </a:p>
          <a:p>
            <a:pPr>
              <a:defRPr/>
            </a:pPr>
            <a:r>
              <a:rPr lang="en-US" b="1"/>
              <a:t>Examples:</a:t>
            </a:r>
            <a:endParaRPr lang="en-US"/>
          </a:p>
          <a:p>
            <a:pPr>
              <a:buFont typeface="Arial"/>
              <a:buChar char="•"/>
              <a:defRPr/>
            </a:pPr>
            <a:r>
              <a:rPr lang="en-US" b="1"/>
              <a:t>Smart grids:</a:t>
            </a:r>
            <a:r>
              <a:rPr lang="en-US"/>
              <a:t> Reduce energy consumption.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 b="1"/>
              <a:t>Agriculture:</a:t>
            </a:r>
            <a:r>
              <a:rPr lang="en-US"/>
              <a:t> Optimize water and fertilizer use.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 b="1"/>
              <a:t>Biodiversity:</a:t>
            </a:r>
            <a:r>
              <a:rPr lang="en-US"/>
              <a:t> Monitor wildlife to protect biodiversity.</a:t>
            </a:r>
            <a:endParaRPr/>
          </a:p>
          <a:p>
            <a:pPr>
              <a:defRPr/>
            </a:pPr>
            <a:r>
              <a:rPr lang="en-US" b="1"/>
              <a:t>AI is a powerful tool for creating a more sustainable future.</a:t>
            </a:r>
            <a:endParaRPr lang="en-US"/>
          </a:p>
          <a:p>
            <a:pPr marL="0" indent="0">
              <a:buNone/>
              <a:defRPr/>
            </a:pPr>
            <a:endParaRPr lang="en-US" b="1"/>
          </a:p>
        </p:txBody>
      </p:sp>
      <p:sp>
        <p:nvSpPr>
          <p:cNvPr id="2009859365" name="Google Shape;59;g5fab984687_2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839332" name="Google Shape;58;g5fab984687_2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/>
            </a:pPr>
            <a:r>
              <a:rPr lang="en-US" b="1"/>
              <a:t>Sustainability and AI</a:t>
            </a:r>
            <a:endParaRPr lang="en-US"/>
          </a:p>
          <a:p>
            <a:pPr>
              <a:defRPr/>
            </a:pPr>
            <a:r>
              <a:rPr lang="en-US" b="1"/>
              <a:t>Sustainability</a:t>
            </a:r>
            <a:r>
              <a:rPr lang="en-US"/>
              <a:t> is important because it helps meet our needs now and in the future. It includes protecting the environment, reducing pollution, and improving economic and social well-being.</a:t>
            </a:r>
            <a:endParaRPr/>
          </a:p>
          <a:p>
            <a:pPr>
              <a:defRPr/>
            </a:pPr>
            <a:r>
              <a:rPr lang="en-US" b="1"/>
              <a:t>AI can help us achieve sustainability.</a:t>
            </a:r>
            <a:r>
              <a:rPr lang="en-US"/>
              <a:t> AI can process data, make predictions, and optimize systems to solve problems like resource management, environmental conservation, and energy efficiency.</a:t>
            </a:r>
            <a:endParaRPr/>
          </a:p>
          <a:p>
            <a:pPr>
              <a:defRPr/>
            </a:pPr>
            <a:r>
              <a:rPr lang="en-US" b="1"/>
              <a:t>Examples:</a:t>
            </a:r>
            <a:endParaRPr lang="en-US"/>
          </a:p>
          <a:p>
            <a:pPr>
              <a:buFont typeface="Arial"/>
              <a:buChar char="•"/>
              <a:defRPr/>
            </a:pPr>
            <a:r>
              <a:rPr lang="en-US" b="1"/>
              <a:t>Smart grids:</a:t>
            </a:r>
            <a:r>
              <a:rPr lang="en-US"/>
              <a:t> Reduce energy consumption.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 b="1"/>
              <a:t>Agriculture:</a:t>
            </a:r>
            <a:r>
              <a:rPr lang="en-US"/>
              <a:t> Optimize water and fertilizer use.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 b="1"/>
              <a:t>Biodiversity:</a:t>
            </a:r>
            <a:r>
              <a:rPr lang="en-US"/>
              <a:t> Monitor wildlife to protect biodiversity.</a:t>
            </a:r>
            <a:endParaRPr/>
          </a:p>
          <a:p>
            <a:pPr>
              <a:defRPr/>
            </a:pPr>
            <a:r>
              <a:rPr lang="en-US" b="1"/>
              <a:t>AI is a powerful tool for creating a more sustainable future.</a:t>
            </a:r>
            <a:endParaRPr lang="en-US"/>
          </a:p>
          <a:p>
            <a:pPr marL="0" indent="0">
              <a:buNone/>
              <a:defRPr/>
            </a:pPr>
            <a:endParaRPr lang="en-US" b="1"/>
          </a:p>
        </p:txBody>
      </p:sp>
      <p:sp>
        <p:nvSpPr>
          <p:cNvPr id="1301663388" name="Google Shape;59;g5fab984687_2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6099470" name="Google Shape;58;g5fab984687_2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/>
            </a:pPr>
            <a:r>
              <a:rPr lang="en-US" b="1"/>
              <a:t>Sustainability and AI</a:t>
            </a:r>
            <a:endParaRPr lang="en-US"/>
          </a:p>
          <a:p>
            <a:pPr>
              <a:defRPr/>
            </a:pPr>
            <a:r>
              <a:rPr lang="en-US" b="1"/>
              <a:t>Sustainability</a:t>
            </a:r>
            <a:r>
              <a:rPr lang="en-US"/>
              <a:t> is important because it helps meet our needs now and in the future. It includes protecting the environment, reducing pollution, and improving economic and social well-being.</a:t>
            </a:r>
            <a:endParaRPr/>
          </a:p>
          <a:p>
            <a:pPr>
              <a:defRPr/>
            </a:pPr>
            <a:r>
              <a:rPr lang="en-US" b="1"/>
              <a:t>AI can help us achieve sustainability.</a:t>
            </a:r>
            <a:r>
              <a:rPr lang="en-US"/>
              <a:t> AI can process data, make predictions, and optimize systems to solve problems like resource management, environmental conservation, and energy efficiency.</a:t>
            </a:r>
            <a:endParaRPr/>
          </a:p>
          <a:p>
            <a:pPr>
              <a:defRPr/>
            </a:pPr>
            <a:r>
              <a:rPr lang="en-US" b="1"/>
              <a:t>Examples:</a:t>
            </a:r>
            <a:endParaRPr lang="en-US"/>
          </a:p>
          <a:p>
            <a:pPr>
              <a:buFont typeface="Arial"/>
              <a:buChar char="•"/>
              <a:defRPr/>
            </a:pPr>
            <a:r>
              <a:rPr lang="en-US" b="1"/>
              <a:t>Smart grids:</a:t>
            </a:r>
            <a:r>
              <a:rPr lang="en-US"/>
              <a:t> Reduce energy consumption.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 b="1"/>
              <a:t>Agriculture:</a:t>
            </a:r>
            <a:r>
              <a:rPr lang="en-US"/>
              <a:t> Optimize water and fertilizer use.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 b="1"/>
              <a:t>Biodiversity:</a:t>
            </a:r>
            <a:r>
              <a:rPr lang="en-US"/>
              <a:t> Monitor wildlife to protect biodiversity.</a:t>
            </a:r>
            <a:endParaRPr/>
          </a:p>
          <a:p>
            <a:pPr>
              <a:defRPr/>
            </a:pPr>
            <a:r>
              <a:rPr lang="en-US" b="1"/>
              <a:t>AI is a powerful tool for creating a more sustainable future.</a:t>
            </a:r>
            <a:endParaRPr lang="en-US"/>
          </a:p>
          <a:p>
            <a:pPr marL="0" indent="0">
              <a:buNone/>
              <a:defRPr/>
            </a:pPr>
            <a:endParaRPr lang="en-US" b="1"/>
          </a:p>
        </p:txBody>
      </p:sp>
      <p:sp>
        <p:nvSpPr>
          <p:cNvPr id="1752435458" name="Google Shape;59;g5fab984687_2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3831" name="Google Shape;58;g5fab984687_2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/>
            </a:pPr>
            <a:r>
              <a:rPr lang="en-US" b="1"/>
              <a:t>Sustainability and AI</a:t>
            </a:r>
            <a:endParaRPr lang="en-US"/>
          </a:p>
          <a:p>
            <a:pPr>
              <a:defRPr/>
            </a:pPr>
            <a:r>
              <a:rPr lang="en-US" b="1"/>
              <a:t>Sustainability</a:t>
            </a:r>
            <a:r>
              <a:rPr lang="en-US"/>
              <a:t> is important because it helps meet our needs now and in the future. It includes protecting the environment, reducing pollution, and improving economic and social well-being.</a:t>
            </a:r>
            <a:endParaRPr/>
          </a:p>
          <a:p>
            <a:pPr>
              <a:defRPr/>
            </a:pPr>
            <a:r>
              <a:rPr lang="en-US" b="1"/>
              <a:t>AI can help us achieve sustainability.</a:t>
            </a:r>
            <a:r>
              <a:rPr lang="en-US"/>
              <a:t> AI can process data, make predictions, and optimize systems to solve problems like resource management, environmental conservation, and energy efficiency.</a:t>
            </a:r>
            <a:endParaRPr/>
          </a:p>
          <a:p>
            <a:pPr>
              <a:defRPr/>
            </a:pPr>
            <a:r>
              <a:rPr lang="en-US" b="1"/>
              <a:t>Examples:</a:t>
            </a:r>
            <a:endParaRPr lang="en-US"/>
          </a:p>
          <a:p>
            <a:pPr>
              <a:buFont typeface="Arial"/>
              <a:buChar char="•"/>
              <a:defRPr/>
            </a:pPr>
            <a:r>
              <a:rPr lang="en-US" b="1"/>
              <a:t>Smart grids:</a:t>
            </a:r>
            <a:r>
              <a:rPr lang="en-US"/>
              <a:t> Reduce energy consumption.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 b="1"/>
              <a:t>Agriculture:</a:t>
            </a:r>
            <a:r>
              <a:rPr lang="en-US"/>
              <a:t> Optimize water and fertilizer use.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 b="1"/>
              <a:t>Biodiversity:</a:t>
            </a:r>
            <a:r>
              <a:rPr lang="en-US"/>
              <a:t> Monitor wildlife to protect biodiversity.</a:t>
            </a:r>
            <a:endParaRPr/>
          </a:p>
          <a:p>
            <a:pPr>
              <a:defRPr/>
            </a:pPr>
            <a:r>
              <a:rPr lang="en-US" b="1"/>
              <a:t>AI is a powerful tool for creating a more sustainable future.</a:t>
            </a:r>
            <a:endParaRPr lang="en-US"/>
          </a:p>
          <a:p>
            <a:pPr marL="0" indent="0">
              <a:buNone/>
              <a:defRPr/>
            </a:pPr>
            <a:endParaRPr lang="en-US" b="1"/>
          </a:p>
        </p:txBody>
      </p:sp>
      <p:sp>
        <p:nvSpPr>
          <p:cNvPr id="1384788162" name="Google Shape;59;g5fab984687_2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4341712" name="Google Shape;58;g5fab984687_2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/>
            </a:pPr>
            <a:r>
              <a:rPr lang="en-US" b="1"/>
              <a:t>Sustainability and AI</a:t>
            </a:r>
            <a:endParaRPr lang="en-US"/>
          </a:p>
          <a:p>
            <a:pPr>
              <a:defRPr/>
            </a:pPr>
            <a:r>
              <a:rPr lang="en-US" b="1"/>
              <a:t>Sustainability</a:t>
            </a:r>
            <a:r>
              <a:rPr lang="en-US"/>
              <a:t> is important because it helps meet our needs now and in the future. It includes protecting the environment, reducing pollution, and improving economic and social well-being.</a:t>
            </a:r>
            <a:endParaRPr/>
          </a:p>
          <a:p>
            <a:pPr>
              <a:defRPr/>
            </a:pPr>
            <a:r>
              <a:rPr lang="en-US" b="1"/>
              <a:t>AI can help us achieve sustainability.</a:t>
            </a:r>
            <a:r>
              <a:rPr lang="en-US"/>
              <a:t> AI can process data, make predictions, and optimize systems to solve problems like resource management, environmental conservation, and energy efficiency.</a:t>
            </a:r>
            <a:endParaRPr/>
          </a:p>
          <a:p>
            <a:pPr>
              <a:defRPr/>
            </a:pPr>
            <a:r>
              <a:rPr lang="en-US" b="1"/>
              <a:t>Examples:</a:t>
            </a:r>
            <a:endParaRPr lang="en-US"/>
          </a:p>
          <a:p>
            <a:pPr>
              <a:buFont typeface="Arial"/>
              <a:buChar char="•"/>
              <a:defRPr/>
            </a:pPr>
            <a:r>
              <a:rPr lang="en-US" b="1"/>
              <a:t>Smart grids:</a:t>
            </a:r>
            <a:r>
              <a:rPr lang="en-US"/>
              <a:t> Reduce energy consumption.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 b="1"/>
              <a:t>Agriculture:</a:t>
            </a:r>
            <a:r>
              <a:rPr lang="en-US"/>
              <a:t> Optimize water and fertilizer use.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 b="1"/>
              <a:t>Biodiversity:</a:t>
            </a:r>
            <a:r>
              <a:rPr lang="en-US"/>
              <a:t> Monitor wildlife to protect biodiversity.</a:t>
            </a:r>
            <a:endParaRPr/>
          </a:p>
          <a:p>
            <a:pPr>
              <a:defRPr/>
            </a:pPr>
            <a:r>
              <a:rPr lang="en-US" b="1"/>
              <a:t>AI is a powerful tool for creating a more sustainable future.</a:t>
            </a:r>
            <a:endParaRPr lang="en-US"/>
          </a:p>
          <a:p>
            <a:pPr marL="0" indent="0">
              <a:buNone/>
              <a:defRPr/>
            </a:pPr>
            <a:endParaRPr lang="en-US" b="1"/>
          </a:p>
        </p:txBody>
      </p:sp>
      <p:sp>
        <p:nvSpPr>
          <p:cNvPr id="382226209" name="Google Shape;59;g5fab984687_2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835290" name="Google Shape;58;g5fab984687_2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/>
            </a:pPr>
            <a:r>
              <a:rPr lang="en-US" b="1"/>
              <a:t>Sustainability and AI</a:t>
            </a:r>
            <a:endParaRPr lang="en-US"/>
          </a:p>
          <a:p>
            <a:pPr>
              <a:defRPr/>
            </a:pPr>
            <a:r>
              <a:rPr lang="en-US" b="1"/>
              <a:t>Sustainability</a:t>
            </a:r>
            <a:r>
              <a:rPr lang="en-US"/>
              <a:t> is important because it helps meet our needs now and in the future. It includes protecting the environment, reducing pollution, and improving economic and social well-being.</a:t>
            </a:r>
            <a:endParaRPr/>
          </a:p>
          <a:p>
            <a:pPr>
              <a:defRPr/>
            </a:pPr>
            <a:r>
              <a:rPr lang="en-US" b="1"/>
              <a:t>AI can help us achieve sustainability.</a:t>
            </a:r>
            <a:r>
              <a:rPr lang="en-US"/>
              <a:t> AI can process data, make predictions, and optimize systems to solve problems like resource management, environmental conservation, and energy efficiency.</a:t>
            </a:r>
            <a:endParaRPr/>
          </a:p>
          <a:p>
            <a:pPr>
              <a:defRPr/>
            </a:pPr>
            <a:r>
              <a:rPr lang="en-US" b="1"/>
              <a:t>Examples:</a:t>
            </a:r>
            <a:endParaRPr lang="en-US"/>
          </a:p>
          <a:p>
            <a:pPr>
              <a:buFont typeface="Arial"/>
              <a:buChar char="•"/>
              <a:defRPr/>
            </a:pPr>
            <a:r>
              <a:rPr lang="en-US" b="1"/>
              <a:t>Smart grids:</a:t>
            </a:r>
            <a:r>
              <a:rPr lang="en-US"/>
              <a:t> Reduce energy consumption.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 b="1"/>
              <a:t>Agriculture:</a:t>
            </a:r>
            <a:r>
              <a:rPr lang="en-US"/>
              <a:t> Optimize water and fertilizer use.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 b="1"/>
              <a:t>Biodiversity:</a:t>
            </a:r>
            <a:r>
              <a:rPr lang="en-US"/>
              <a:t> Monitor wildlife to protect biodiversity.</a:t>
            </a:r>
            <a:endParaRPr/>
          </a:p>
          <a:p>
            <a:pPr>
              <a:defRPr/>
            </a:pPr>
            <a:r>
              <a:rPr lang="en-US" b="1"/>
              <a:t>AI is a powerful tool for creating a more sustainable future.</a:t>
            </a:r>
            <a:endParaRPr lang="en-US"/>
          </a:p>
          <a:p>
            <a:pPr marL="0" indent="0">
              <a:buNone/>
              <a:defRPr/>
            </a:pPr>
            <a:endParaRPr lang="en-US" b="1"/>
          </a:p>
        </p:txBody>
      </p:sp>
      <p:sp>
        <p:nvSpPr>
          <p:cNvPr id="4677400" name="Google Shape;59;g5fab984687_2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132999" name="Google Shape;58;g5fab984687_2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/>
            </a:pPr>
            <a:r>
              <a:rPr lang="en-US" b="1"/>
              <a:t>Sustainability and AI</a:t>
            </a:r>
            <a:endParaRPr lang="en-US"/>
          </a:p>
          <a:p>
            <a:pPr>
              <a:defRPr/>
            </a:pPr>
            <a:r>
              <a:rPr lang="en-US" b="1"/>
              <a:t>Sustainability</a:t>
            </a:r>
            <a:r>
              <a:rPr lang="en-US"/>
              <a:t> is important because it helps meet our needs now and in the future. It includes protecting the environment, reducing pollution, and improving economic and social well-being.</a:t>
            </a:r>
            <a:endParaRPr/>
          </a:p>
          <a:p>
            <a:pPr>
              <a:defRPr/>
            </a:pPr>
            <a:r>
              <a:rPr lang="en-US" b="1"/>
              <a:t>AI can help us achieve sustainability.</a:t>
            </a:r>
            <a:r>
              <a:rPr lang="en-US"/>
              <a:t> AI can process data, make predictions, and optimize systems to solve problems like resource management, environmental conservation, and energy efficiency.</a:t>
            </a:r>
            <a:endParaRPr/>
          </a:p>
          <a:p>
            <a:pPr>
              <a:defRPr/>
            </a:pPr>
            <a:r>
              <a:rPr lang="en-US" b="1"/>
              <a:t>Examples:</a:t>
            </a:r>
            <a:endParaRPr lang="en-US"/>
          </a:p>
          <a:p>
            <a:pPr>
              <a:buFont typeface="Arial"/>
              <a:buChar char="•"/>
              <a:defRPr/>
            </a:pPr>
            <a:r>
              <a:rPr lang="en-US" b="1"/>
              <a:t>Smart grids:</a:t>
            </a:r>
            <a:r>
              <a:rPr lang="en-US"/>
              <a:t> Reduce energy consumption.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 b="1"/>
              <a:t>Agriculture:</a:t>
            </a:r>
            <a:r>
              <a:rPr lang="en-US"/>
              <a:t> Optimize water and fertilizer use.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 b="1"/>
              <a:t>Biodiversity:</a:t>
            </a:r>
            <a:r>
              <a:rPr lang="en-US"/>
              <a:t> Monitor wildlife to protect biodiversity.</a:t>
            </a:r>
            <a:endParaRPr/>
          </a:p>
          <a:p>
            <a:pPr>
              <a:defRPr/>
            </a:pPr>
            <a:r>
              <a:rPr lang="en-US" b="1"/>
              <a:t>AI is a powerful tool for creating a more sustainable future.</a:t>
            </a:r>
            <a:endParaRPr lang="en-US"/>
          </a:p>
          <a:p>
            <a:pPr marL="0" indent="0">
              <a:buNone/>
              <a:defRPr/>
            </a:pPr>
            <a:endParaRPr lang="en-US" b="1"/>
          </a:p>
        </p:txBody>
      </p:sp>
      <p:sp>
        <p:nvSpPr>
          <p:cNvPr id="796933036" name="Google Shape;59;g5fab984687_2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7467946" name="Google Shape;58;g5fab984687_2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/>
            </a:pPr>
            <a:r>
              <a:rPr lang="en-US" b="1"/>
              <a:t>Sustainability and AI</a:t>
            </a:r>
            <a:endParaRPr lang="en-US"/>
          </a:p>
          <a:p>
            <a:pPr>
              <a:defRPr/>
            </a:pPr>
            <a:r>
              <a:rPr lang="en-US" b="1"/>
              <a:t>Sustainability</a:t>
            </a:r>
            <a:r>
              <a:rPr lang="en-US"/>
              <a:t> is important because it helps meet our needs now and in the future. It includes protecting the environment, reducing pollution, and improving economic and social well-being.</a:t>
            </a:r>
            <a:endParaRPr/>
          </a:p>
          <a:p>
            <a:pPr>
              <a:defRPr/>
            </a:pPr>
            <a:r>
              <a:rPr lang="en-US" b="1"/>
              <a:t>AI can help us achieve sustainability.</a:t>
            </a:r>
            <a:r>
              <a:rPr lang="en-US"/>
              <a:t> AI can process data, make predictions, and optimize systems to solve problems like resource management, environmental conservation, and energy efficiency.</a:t>
            </a:r>
            <a:endParaRPr/>
          </a:p>
          <a:p>
            <a:pPr>
              <a:defRPr/>
            </a:pPr>
            <a:r>
              <a:rPr lang="en-US" b="1"/>
              <a:t>Examples:</a:t>
            </a:r>
            <a:endParaRPr lang="en-US"/>
          </a:p>
          <a:p>
            <a:pPr>
              <a:buFont typeface="Arial"/>
              <a:buChar char="•"/>
              <a:defRPr/>
            </a:pPr>
            <a:r>
              <a:rPr lang="en-US" b="1"/>
              <a:t>Smart grids:</a:t>
            </a:r>
            <a:r>
              <a:rPr lang="en-US"/>
              <a:t> Reduce energy consumption.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 b="1"/>
              <a:t>Agriculture:</a:t>
            </a:r>
            <a:r>
              <a:rPr lang="en-US"/>
              <a:t> Optimize water and fertilizer use.</a:t>
            </a:r>
            <a:endParaRPr/>
          </a:p>
          <a:p>
            <a:pPr>
              <a:buFont typeface="Arial"/>
              <a:buChar char="•"/>
              <a:defRPr/>
            </a:pPr>
            <a:r>
              <a:rPr lang="en-US" b="1"/>
              <a:t>Biodiversity:</a:t>
            </a:r>
            <a:r>
              <a:rPr lang="en-US"/>
              <a:t> Monitor wildlife to protect biodiversity.</a:t>
            </a:r>
            <a:endParaRPr/>
          </a:p>
          <a:p>
            <a:pPr>
              <a:defRPr/>
            </a:pPr>
            <a:r>
              <a:rPr lang="en-US" b="1"/>
              <a:t>AI is a powerful tool for creating a more sustainable future.</a:t>
            </a:r>
            <a:endParaRPr lang="en-US"/>
          </a:p>
          <a:p>
            <a:pPr marL="0" indent="0">
              <a:buNone/>
              <a:defRPr/>
            </a:pPr>
            <a:endParaRPr lang="en-US" b="1"/>
          </a:p>
        </p:txBody>
      </p:sp>
      <p:sp>
        <p:nvSpPr>
          <p:cNvPr id="356710327" name="Google Shape;59;g5fab984687_2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8979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8241439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 b="1" spc="-5">
                <a:solidFill>
                  <a:srgbClr val="223366"/>
                </a:solidFill>
              </a:rPr>
              <a:t>Thank You !!</a:t>
            </a:r>
            <a:endParaRPr lang="en-US" sz="1100" b="1" spc="-5">
              <a:solidFill>
                <a:srgbClr val="223366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body" preserve="0" showMasterPhAnim="0" showMasterSp="1" userDrawn="1">
  <p:cSld name="Title and 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1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07102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DE8089E-5BFA-40F0-B876-ADFE03496B7F}" type="datetimeFigureOut">
              <a:rPr lang="en-IN"/>
              <a:t>02-11-2025</a:t>
            </a:fld>
            <a:endParaRPr lang="en-IN"/>
          </a:p>
        </p:txBody>
      </p:sp>
      <p:sp>
        <p:nvSpPr>
          <p:cNvPr id="107093193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70845379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F63122C-94FD-45B7-812A-8C690DBDD321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2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0799342" name="Shape 0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1261099524" name="Shape 1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2053522101" name="Image 0" descr="preencoded.png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699346" y="6457950"/>
            <a:ext cx="1435504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4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330408" name="Shape 0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872521689" name="Shape 1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1223623422" name="Image 0" descr="preencoded.png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699346" y="6457950"/>
            <a:ext cx="1435504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5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857803" name="Shape 0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422707285" name="Shape 1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72458832" name="Image 0" descr="preencoded.png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699346" y="6457950"/>
            <a:ext cx="1435504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6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559437" name="Shape 0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1349235930" name="Shape 1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1790577662" name="Image 0" descr="preencoded.png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699346" y="6457950"/>
            <a:ext cx="1435504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8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4223686" name="Shape 0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1158403864" name="Shape 1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576252880" name="Image 0" descr="preencoded.png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699346" y="6457950"/>
            <a:ext cx="1435504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3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975697" name="Shape 0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647688948" name="Shape 1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921379152" name="Image 0" descr="preencoded.png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699346" y="6457950"/>
            <a:ext cx="1435504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7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8472056" name="Shape 0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1263063202" name="Shape 1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1904937654" name="Image 0" descr="preencoded.png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699346" y="6457950"/>
            <a:ext cx="1435504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1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3244343" name="Shape 0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1554298455" name="Shape 1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167508944" name="Image 0" descr="preencoded.png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699346" y="6457950"/>
            <a:ext cx="1435504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9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4074863" name="Shape 0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798973581" name="Shape 1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110100206" name="Image 0" descr="preencoded.png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699346" y="6457950"/>
            <a:ext cx="1435504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10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4700409" name="Shape 0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98302582" name="Shape 1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1074222766" name="Image 0" descr="preencoded.png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699346" y="6457950"/>
            <a:ext cx="1435504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8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-2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60158788" name="Google Shape;110;p4" descr="A close up of a sign&#10;&#10;Description automatically generated"/>
          <p:cNvPicPr/>
          <p:nvPr userDrawn="1"/>
        </p:nvPicPr>
        <p:blipFill rotWithShape="1">
          <a:blip r:embed="rId17">
            <a:alphaModFix/>
          </a:blip>
          <a:stretch/>
        </p:blipFill>
        <p:spPr bwMode="auto"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399953133" name="Rectangle 14"/>
          <p:cNvSpPr/>
          <p:nvPr userDrawn="1"/>
        </p:nvSpPr>
        <p:spPr bwMode="auto"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1191485417" name="Rectangle 18"/>
          <p:cNvSpPr/>
          <p:nvPr userDrawn="1"/>
        </p:nvSpPr>
        <p:spPr bwMode="auto"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/>
          </a:p>
        </p:txBody>
      </p:sp>
      <p:pic>
        <p:nvPicPr>
          <p:cNvPr id="1385457927" name="Picture 30" descr="A blue and white background&#10;&#10;Description automatically generated with medium confidence"/>
          <p:cNvPicPr>
            <a:picLocks noChangeAspect="1"/>
          </p:cNvPicPr>
          <p:nvPr userDrawn="1"/>
        </p:nvPicPr>
        <p:blipFill rotWithShape="1">
          <a:blip r:embed="rId18">
            <a:alphaModFix amt="16000"/>
          </a:blip>
          <a:srcRect l="0" t="24724" r="1618" b="63695"/>
          <a:stretch/>
        </p:blipFill>
        <p:spPr bwMode="auto"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97590645" name="Rectangle 1"/>
          <p:cNvSpPr/>
          <p:nvPr userDrawn="1"/>
        </p:nvSpPr>
        <p:spPr bwMode="auto"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64891558" name="Picture 5" descr="A person sitting at a desk with a computer&#10;&#10;Description automatically generated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42385691" name="Rectangle: Rounded Corners 4"/>
          <p:cNvSpPr/>
          <p:nvPr/>
        </p:nvSpPr>
        <p:spPr bwMode="auto">
          <a:xfrm>
            <a:off x="8687544" y="584200"/>
            <a:ext cx="2110444" cy="977900"/>
          </a:xfrm>
          <a:prstGeom prst="roundRect">
            <a:avLst>
              <a:gd name="adj" fmla="val 16667"/>
            </a:avLst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546020126" name="TextBox 17"/>
          <p:cNvSpPr txBox="1"/>
          <p:nvPr/>
        </p:nvSpPr>
        <p:spPr bwMode="auto">
          <a:xfrm>
            <a:off x="4093474" y="2008766"/>
            <a:ext cx="7570442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4000" b="1">
                <a:solidFill>
                  <a:schemeClr val="bg1"/>
                </a:solidFill>
              </a:rPr>
              <a:t>Air Quality Forecasting using ML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1732140193" name="Picture 18" descr="A close up of a logo&#10;&#10;Description automatically generated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061943" y="867733"/>
            <a:ext cx="1263157" cy="410834"/>
          </a:xfrm>
          <a:prstGeom prst="rect">
            <a:avLst/>
          </a:prstGeom>
        </p:spPr>
      </p:pic>
      <p:sp>
        <p:nvSpPr>
          <p:cNvPr id="868744662" name="TextBox 1"/>
          <p:cNvSpPr txBox="1"/>
          <p:nvPr/>
        </p:nvSpPr>
        <p:spPr bwMode="auto">
          <a:xfrm>
            <a:off x="4760259" y="3494966"/>
            <a:ext cx="6347011" cy="15289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IN">
                <a:solidFill>
                  <a:schemeClr val="bg1"/>
                </a:solidFill>
              </a:rPr>
              <a:t>&lt;Mohammed Fahim R&gt;</a:t>
            </a:r>
            <a:endParaRPr/>
          </a:p>
          <a:p>
            <a:pPr>
              <a:defRPr/>
            </a:pPr>
            <a:r>
              <a:rPr lang="en-IN">
                <a:solidFill>
                  <a:schemeClr val="bg1"/>
                </a:solidFill>
              </a:rPr>
              <a:t>&lt;Hameed Vajir </a:t>
            </a:r>
            <a:r>
              <a:rPr lang="en-IN">
                <a:solidFill>
                  <a:schemeClr val="bg1"/>
                </a:solidFill>
              </a:rPr>
              <a:t>Terdale</a:t>
            </a:r>
            <a:r>
              <a:rPr lang="en-IN">
                <a:solidFill>
                  <a:schemeClr val="bg1"/>
                </a:solidFill>
              </a:rPr>
              <a:t>&gt;</a:t>
            </a:r>
            <a:endParaRPr/>
          </a:p>
          <a:p>
            <a:pPr>
              <a:defRPr/>
            </a:pPr>
            <a:r>
              <a:rPr lang="en-IN">
                <a:solidFill>
                  <a:schemeClr val="bg1"/>
                </a:solidFill>
              </a:rPr>
              <a:t>&lt;Mentor Name : Sanjay S C&gt;</a:t>
            </a:r>
            <a:endParaRPr/>
          </a:p>
          <a:p>
            <a:pPr>
              <a:defRPr/>
            </a:pPr>
            <a:endParaRPr lang="en-IN">
              <a:solidFill>
                <a:schemeClr val="bg1"/>
              </a:solidFill>
            </a:endParaRPr>
          </a:p>
          <a:p>
            <a:pPr>
              <a:defRPr/>
            </a:pPr>
            <a:r>
              <a:rPr lang="en-IN">
                <a:solidFill>
                  <a:schemeClr val="bg1"/>
                </a:solidFill>
              </a:rPr>
              <a:t>College Name -  K S Institute of Technology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647370768" name="Straight Connector 13"/>
          <p:cNvCxnSpPr/>
          <p:nvPr/>
        </p:nvCxnSpPr>
        <p:spPr bwMode="auto"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6686006" name="Google Shape;61;g5fab984687_2_0"/>
          <p:cNvSpPr txBox="1">
            <a:spLocks noGrp="1"/>
          </p:cNvSpPr>
          <p:nvPr/>
        </p:nvSpPr>
        <p:spPr bwMode="auto">
          <a:xfrm>
            <a:off x="407838" y="873305"/>
            <a:ext cx="5025142" cy="68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pPr>
            <a:r>
              <a:rPr lang="en-GB" sz="2000" b="1">
                <a:solidFill>
                  <a:srgbClr val="213163"/>
                </a:solidFill>
              </a:rPr>
              <a:t>Project Objectives</a:t>
            </a:r>
            <a:endParaRPr lang="en-US" sz="2000"/>
          </a:p>
        </p:txBody>
      </p:sp>
      <p:pic>
        <p:nvPicPr>
          <p:cNvPr id="2009926525" name="Picture 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081265" y="1124611"/>
            <a:ext cx="4602826" cy="4613712"/>
          </a:xfrm>
          <a:prstGeom prst="rect">
            <a:avLst/>
          </a:prstGeom>
        </p:spPr>
      </p:pic>
      <p:sp>
        <p:nvSpPr>
          <p:cNvPr id="43478787" name="Google Shape;62;g5fab984687_2_0"/>
          <p:cNvSpPr txBox="1"/>
          <p:nvPr/>
        </p:nvSpPr>
        <p:spPr bwMode="auto">
          <a:xfrm>
            <a:off x="407838" y="1715981"/>
            <a:ext cx="5369163" cy="318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182880" indent="-182880">
              <a:lnSpc>
                <a:spcPct val="150000"/>
              </a:lnSpc>
              <a:buFont typeface="Arial"/>
              <a:buChar char="•"/>
              <a:defRPr/>
            </a:pPr>
            <a:r>
              <a:rPr lang="en-US" sz="1600"/>
              <a:t>Problem Statement</a:t>
            </a:r>
            <a:endParaRPr lang="en-US" sz="1100"/>
          </a:p>
          <a:p>
            <a:pPr marL="182880" indent="-182880">
              <a:lnSpc>
                <a:spcPct val="150000"/>
              </a:lnSpc>
              <a:buFont typeface="Arial"/>
              <a:buChar char="•"/>
              <a:defRPr/>
            </a:pPr>
            <a:r>
              <a:rPr lang="en-US" sz="1600"/>
              <a:t>Project Overview – Introduction</a:t>
            </a:r>
            <a:endParaRPr/>
          </a:p>
          <a:p>
            <a:pPr marL="182880" indent="-182880">
              <a:lnSpc>
                <a:spcPct val="150000"/>
              </a:lnSpc>
              <a:buFont typeface="Arial"/>
              <a:buChar char="•"/>
              <a:defRPr/>
            </a:pPr>
            <a:r>
              <a:rPr lang="en-US" sz="1600"/>
              <a:t>End Users</a:t>
            </a:r>
            <a:endParaRPr/>
          </a:p>
          <a:p>
            <a:pPr marL="182880" indent="-182880">
              <a:lnSpc>
                <a:spcPct val="150000"/>
              </a:lnSpc>
              <a:buFont typeface="Arial"/>
              <a:buChar char="•"/>
              <a:defRPr/>
            </a:pPr>
            <a:r>
              <a:rPr lang="en-US" sz="1600"/>
              <a:t>Wow Factor in Project</a:t>
            </a:r>
            <a:endParaRPr/>
          </a:p>
          <a:p>
            <a:pPr marL="182880" indent="-182880">
              <a:lnSpc>
                <a:spcPct val="150000"/>
              </a:lnSpc>
              <a:buFont typeface="Arial"/>
              <a:buChar char="•"/>
              <a:defRPr/>
            </a:pPr>
            <a:r>
              <a:rPr lang="en-US" sz="1600"/>
              <a:t>Modelling/Block Diagram/Flow of Project</a:t>
            </a:r>
            <a:endParaRPr/>
          </a:p>
          <a:p>
            <a:pPr marL="182880" indent="-182880">
              <a:lnSpc>
                <a:spcPct val="150000"/>
              </a:lnSpc>
              <a:buFont typeface="Arial"/>
              <a:buChar char="•"/>
              <a:defRPr/>
            </a:pPr>
            <a:r>
              <a:rPr lang="en-US" sz="1600"/>
              <a:t>Result/outcomes</a:t>
            </a:r>
            <a:endParaRPr/>
          </a:p>
          <a:p>
            <a:pPr marL="182880" indent="-182880">
              <a:lnSpc>
                <a:spcPct val="150000"/>
              </a:lnSpc>
              <a:buFont typeface="Arial"/>
              <a:buChar char="•"/>
              <a:defRPr/>
            </a:pPr>
            <a:r>
              <a:rPr lang="en-US" sz="1600"/>
              <a:t>Conclusion</a:t>
            </a:r>
            <a:endParaRPr/>
          </a:p>
          <a:p>
            <a:pPr marL="182880" indent="-182880">
              <a:lnSpc>
                <a:spcPct val="150000"/>
              </a:lnSpc>
              <a:buFont typeface="Arial"/>
              <a:buChar char="•"/>
              <a:defRPr/>
            </a:pPr>
            <a:r>
              <a:rPr lang="en-US" sz="1600"/>
              <a:t>Future Perspective</a:t>
            </a:r>
            <a:endParaRPr/>
          </a:p>
          <a:p>
            <a:pPr marL="182880" indent="-182880">
              <a:buFont typeface="Arial"/>
              <a:buChar char="•"/>
              <a:defRPr/>
            </a:pP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997795" name="TextBox 1"/>
          <p:cNvSpPr txBox="1"/>
          <p:nvPr/>
        </p:nvSpPr>
        <p:spPr bwMode="auto"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IN" sz="2000" b="1">
                <a:solidFill>
                  <a:srgbClr val="213163"/>
                </a:solidFill>
              </a:rPr>
              <a:t>Problem Statement</a:t>
            </a:r>
            <a:endParaRPr lang="en-US" sz="1850"/>
          </a:p>
        </p:txBody>
      </p:sp>
      <p:cxnSp>
        <p:nvCxnSpPr>
          <p:cNvPr id="185393866" name="Straight Connector 11"/>
          <p:cNvCxnSpPr/>
          <p:nvPr/>
        </p:nvCxnSpPr>
        <p:spPr bwMode="auto"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1532588" name="TextBox 3"/>
          <p:cNvSpPr txBox="1"/>
          <p:nvPr/>
        </p:nvSpPr>
        <p:spPr bwMode="auto">
          <a:xfrm>
            <a:off x="202071" y="1531091"/>
            <a:ext cx="8949903" cy="2678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/>
              <a:t>Air pollution has become one of the most serious environmental challenges in India, with rising PM2.5 levels posing significant health risks. However, the public often lacks access to reliable short-term forecasts that can help them plan and protect themselves from poor air quality. This project aims to build a </a:t>
            </a:r>
            <a:r>
              <a:rPr lang="en-US" b="1"/>
              <a:t>data-driven system that predicts future PM2.5(Particulate Matter 2.5) concentrations and corresponding Air Quality Index (AQI)</a:t>
            </a:r>
            <a:r>
              <a:rPr lang="en-US"/>
              <a:t> for major Indian cities using </a:t>
            </a:r>
            <a:r>
              <a:rPr lang="en-US" b="1"/>
              <a:t>Machine Learning (Prophet model)</a:t>
            </a:r>
            <a:r>
              <a:rPr lang="en-US"/>
              <a:t>. The goal is to provide users with an easy-to-use </a:t>
            </a:r>
            <a:r>
              <a:rPr lang="en-US" b="1"/>
              <a:t>interactive dashboard</a:t>
            </a:r>
            <a:r>
              <a:rPr lang="en-US"/>
              <a:t> that displays current and forecasted air quality trends to support awareness and preventive action.</a:t>
            </a:r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550907" name="TextBox 1"/>
          <p:cNvSpPr txBox="1"/>
          <p:nvPr/>
        </p:nvSpPr>
        <p:spPr bwMode="auto"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IN" sz="2000" b="1">
                <a:solidFill>
                  <a:srgbClr val="213163"/>
                </a:solidFill>
              </a:rPr>
              <a:t>Project Overview - Introduction</a:t>
            </a:r>
            <a:endParaRPr lang="en-US" sz="1850"/>
          </a:p>
        </p:txBody>
      </p:sp>
      <p:cxnSp>
        <p:nvCxnSpPr>
          <p:cNvPr id="1680524194" name="Straight Connector 11"/>
          <p:cNvCxnSpPr/>
          <p:nvPr/>
        </p:nvCxnSpPr>
        <p:spPr bwMode="auto"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7081665" name="TextBox 3"/>
          <p:cNvSpPr txBox="1"/>
          <p:nvPr/>
        </p:nvSpPr>
        <p:spPr bwMode="auto">
          <a:xfrm>
            <a:off x="202071" y="1552363"/>
            <a:ext cx="8949903" cy="1528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/>
              <a:t>This project predicts </a:t>
            </a:r>
            <a:r>
              <a:rPr lang="en-US" b="1"/>
              <a:t>PM2.5 concentration</a:t>
            </a:r>
            <a:r>
              <a:rPr lang="en-US"/>
              <a:t> and </a:t>
            </a:r>
            <a:r>
              <a:rPr lang="en-US" b="1"/>
              <a:t>Air Quality Index (AQI)</a:t>
            </a:r>
            <a:r>
              <a:rPr lang="en-US"/>
              <a:t> for major Indian cities using the </a:t>
            </a:r>
            <a:r>
              <a:rPr lang="en-US" b="1"/>
              <a:t>Prophet Machine Learning model</a:t>
            </a:r>
            <a:r>
              <a:rPr lang="en-US"/>
              <a:t>. It analyzes historical air quality data to forecast future pollution trends. The results are displayed on an </a:t>
            </a:r>
            <a:r>
              <a:rPr lang="en-US" b="1"/>
              <a:t>interactive </a:t>
            </a:r>
            <a:r>
              <a:rPr lang="en-US" b="1"/>
              <a:t>Streamlit</a:t>
            </a:r>
            <a:r>
              <a:rPr lang="en-US" b="1"/>
              <a:t> dashboard</a:t>
            </a:r>
            <a:r>
              <a:rPr lang="en-US"/>
              <a:t>, helping users and authorities monitor and plan actions to reduce pollution impact.</a:t>
            </a:r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7259550" name="TextBox 1"/>
          <p:cNvSpPr txBox="1"/>
          <p:nvPr/>
        </p:nvSpPr>
        <p:spPr bwMode="auto"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IN" sz="2000" b="1">
                <a:solidFill>
                  <a:srgbClr val="213163"/>
                </a:solidFill>
              </a:rPr>
              <a:t>End Users</a:t>
            </a:r>
            <a:endParaRPr lang="en-US"/>
          </a:p>
        </p:txBody>
      </p:sp>
      <p:cxnSp>
        <p:nvCxnSpPr>
          <p:cNvPr id="450016641" name="Straight Connector 11"/>
          <p:cNvCxnSpPr/>
          <p:nvPr/>
        </p:nvCxnSpPr>
        <p:spPr bwMode="auto"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3328700" name="Rectangle 1"/>
          <p:cNvSpPr>
            <a:spLocks noChangeArrowheads="1"/>
          </p:cNvSpPr>
          <p:nvPr/>
        </p:nvSpPr>
        <p:spPr bwMode="auto">
          <a:xfrm>
            <a:off x="202071" y="1967024"/>
            <a:ext cx="12192000" cy="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General Public: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 To stay aware of air quality levels and plan outdoor activities safely.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Health Organizations: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 To issue health advisories and prepare for pollution-related cases.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Government &amp; Policymakers: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 To monitor city pollution trends and plan environmental policies.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Researchers &amp; Environmentalists: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 To study air pollution patterns and validate forecasting model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6157575" name="TextBox 1"/>
          <p:cNvSpPr txBox="1"/>
          <p:nvPr/>
        </p:nvSpPr>
        <p:spPr bwMode="auto"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IN" sz="2000" b="1">
                <a:solidFill>
                  <a:srgbClr val="213163"/>
                </a:solidFill>
              </a:rPr>
              <a:t>Wow Factors in Project</a:t>
            </a:r>
            <a:endParaRPr lang="en-US"/>
          </a:p>
        </p:txBody>
      </p:sp>
      <p:cxnSp>
        <p:nvCxnSpPr>
          <p:cNvPr id="909614609" name="Straight Connector 11"/>
          <p:cNvCxnSpPr/>
          <p:nvPr/>
        </p:nvCxnSpPr>
        <p:spPr bwMode="auto"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0932158" name="Rectangle 1"/>
          <p:cNvSpPr>
            <a:spLocks noChangeArrowheads="1"/>
          </p:cNvSpPr>
          <p:nvPr/>
        </p:nvSpPr>
        <p:spPr bwMode="auto">
          <a:xfrm>
            <a:off x="202071" y="2126512"/>
            <a:ext cx="12192000" cy="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Real-Time Data Integration: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 Fetches live air quality data directly from the 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OpenAQ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 API.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Machine Learning Forecasting: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 Uses </a:t>
            </a: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Prophet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 model to predict future PM2.5 and AQI levels.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Interactive Dashboard: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 Built with </a:t>
            </a: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Streamlit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 and </a:t>
            </a: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Plotly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, offering dynamic visualizations.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City-Wise Analysis: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 Users can select any Indian city to view specific forecasts and trends.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Accurate AQI Conversion: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 Converts predicted PM2.5 values into AQI using Indian government standards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4852065" name="TextBox 1"/>
          <p:cNvSpPr txBox="1"/>
          <p:nvPr/>
        </p:nvSpPr>
        <p:spPr bwMode="auto"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IN" sz="2000" b="1">
                <a:solidFill>
                  <a:srgbClr val="213163"/>
                </a:solidFill>
              </a:rPr>
              <a:t>Modelling/Block Diagram/Flow of Project</a:t>
            </a:r>
            <a:endParaRPr lang="en-US"/>
          </a:p>
        </p:txBody>
      </p:sp>
      <p:cxnSp>
        <p:nvCxnSpPr>
          <p:cNvPr id="1188057463" name="Straight Connector 11"/>
          <p:cNvCxnSpPr/>
          <p:nvPr/>
        </p:nvCxnSpPr>
        <p:spPr bwMode="auto"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8890781" name="Picture 5"/>
          <p:cNvPicPr>
            <a:picLocks noChangeAspect="1"/>
          </p:cNvPicPr>
          <p:nvPr/>
        </p:nvPicPr>
        <p:blipFill rotWithShape="1">
          <a:blip r:embed="rId3"/>
          <a:srcRect l="0" t="32403" r="0" b="30542"/>
          <a:stretch/>
        </p:blipFill>
        <p:spPr bwMode="auto">
          <a:xfrm>
            <a:off x="1252870" y="1737035"/>
            <a:ext cx="8210108" cy="30421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4912875" name="TextBox 1"/>
          <p:cNvSpPr txBox="1"/>
          <p:nvPr/>
        </p:nvSpPr>
        <p:spPr bwMode="auto"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IN" sz="2000" b="1">
                <a:solidFill>
                  <a:srgbClr val="213163"/>
                </a:solidFill>
              </a:rPr>
              <a:t>Result/Outcomes</a:t>
            </a:r>
            <a:endParaRPr lang="en-US"/>
          </a:p>
        </p:txBody>
      </p:sp>
      <p:cxnSp>
        <p:nvCxnSpPr>
          <p:cNvPr id="1345877333" name="Straight Connector 11"/>
          <p:cNvCxnSpPr/>
          <p:nvPr/>
        </p:nvCxnSpPr>
        <p:spPr bwMode="auto"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8538657" name="Rectangle 1"/>
          <p:cNvSpPr>
            <a:spLocks noChangeArrowheads="1"/>
          </p:cNvSpPr>
          <p:nvPr/>
        </p:nvSpPr>
        <p:spPr bwMode="auto">
          <a:xfrm>
            <a:off x="202070" y="1373186"/>
            <a:ext cx="11431554" cy="311693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Successfully predicts </a:t>
            </a: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future AQI (Air Quality Index)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 levels for major Indian cities using </a:t>
            </a: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Prophet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 time-series forecasting.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Displays </a:t>
            </a: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interactive graphs and visual insights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 through a </a:t>
            </a: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Streamlit</a:t>
            </a: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 dashboard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.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Allows users to </a:t>
            </a: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compare current and forecasted air quality trends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.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Achieved </a:t>
            </a: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accurate short-term predictions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 (next 7–30 days) based on PM2.5 data.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Helps users and authorities </a:t>
            </a: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plan health measures and travel decisions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 based on predicted air pollution levels.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Provides a </a:t>
            </a: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user-friendly web interface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 for real-time data visualization and forecast results.</a:t>
            </a:r>
            <a:b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</a:br>
            <a:endParaRPr lang="en-US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Github link : </a:t>
            </a:r>
            <a:r>
              <a:rPr lang="en-US" sz="1800" b="0" i="0" u="none" strike="noStrike" cap="none" spc="0">
                <a:ln>
                  <a:noFill/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https://github.com/HAMEEDVT/air-quality-forecasting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9097196" name="TextBox 1"/>
          <p:cNvSpPr txBox="1"/>
          <p:nvPr/>
        </p:nvSpPr>
        <p:spPr bwMode="auto"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IN" sz="2000" b="1">
                <a:solidFill>
                  <a:srgbClr val="213163"/>
                </a:solidFill>
              </a:rPr>
              <a:t>Conclusion</a:t>
            </a:r>
            <a:endParaRPr lang="en-US"/>
          </a:p>
        </p:txBody>
      </p:sp>
      <p:cxnSp>
        <p:nvCxnSpPr>
          <p:cNvPr id="1819049267" name="Straight Connector 11"/>
          <p:cNvCxnSpPr/>
          <p:nvPr/>
        </p:nvCxnSpPr>
        <p:spPr bwMode="auto"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7384582" name="TextBox 3"/>
          <p:cNvSpPr txBox="1"/>
          <p:nvPr/>
        </p:nvSpPr>
        <p:spPr bwMode="auto">
          <a:xfrm>
            <a:off x="202071" y="1372647"/>
            <a:ext cx="8949903" cy="210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/>
              <a:t>This project demonstrates how </a:t>
            </a:r>
            <a:r>
              <a:rPr lang="en-US" b="1"/>
              <a:t>Machine Learning</a:t>
            </a:r>
            <a:r>
              <a:rPr lang="en-US"/>
              <a:t> can be applied to address real-world environmental challenges. By using the </a:t>
            </a:r>
            <a:r>
              <a:rPr lang="en-US" b="1"/>
              <a:t>Prophet forecasting model</a:t>
            </a:r>
            <a:r>
              <a:rPr lang="en-US"/>
              <a:t> and </a:t>
            </a:r>
            <a:r>
              <a:rPr lang="en-US" b="1"/>
              <a:t>live air quality data</a:t>
            </a:r>
            <a:r>
              <a:rPr lang="en-US"/>
              <a:t>, it accurately predicts future </a:t>
            </a:r>
            <a:r>
              <a:rPr lang="en-US" b="1"/>
              <a:t>PM2.5 and AQI levels</a:t>
            </a:r>
            <a:r>
              <a:rPr lang="en-US"/>
              <a:t> for Indian cities. The </a:t>
            </a:r>
            <a:r>
              <a:rPr lang="en-US" b="1"/>
              <a:t>Streamlit</a:t>
            </a:r>
            <a:r>
              <a:rPr lang="en-US" b="1"/>
              <a:t> dashboard</a:t>
            </a:r>
            <a:r>
              <a:rPr lang="en-US"/>
              <a:t> makes these insights easy to understand and accessible to everyone. Overall, the system promotes </a:t>
            </a:r>
            <a:r>
              <a:rPr lang="en-US" b="1"/>
              <a:t>awareness, data-driven decision-making, and proactive action</a:t>
            </a:r>
            <a:r>
              <a:rPr lang="en-US"/>
              <a:t> toward improving air quality and public health.</a:t>
            </a:r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208672" name="TextBox 1"/>
          <p:cNvSpPr txBox="1"/>
          <p:nvPr/>
        </p:nvSpPr>
        <p:spPr bwMode="auto"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IN" sz="2000" b="1">
                <a:solidFill>
                  <a:srgbClr val="213163"/>
                </a:solidFill>
              </a:rPr>
              <a:t>Future Perspective</a:t>
            </a:r>
            <a:endParaRPr lang="en-US"/>
          </a:p>
        </p:txBody>
      </p:sp>
      <p:cxnSp>
        <p:nvCxnSpPr>
          <p:cNvPr id="847788918" name="Straight Connector 11"/>
          <p:cNvCxnSpPr/>
          <p:nvPr/>
        </p:nvCxnSpPr>
        <p:spPr bwMode="auto"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9363113" name="Rectangle 1"/>
          <p:cNvSpPr>
            <a:spLocks noChangeArrowheads="1"/>
          </p:cNvSpPr>
          <p:nvPr/>
        </p:nvSpPr>
        <p:spPr bwMode="auto">
          <a:xfrm>
            <a:off x="202071" y="1430409"/>
            <a:ext cx="11483110" cy="230832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Expand Data Sources: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 Integrate data from multiple APIs or government sensors for higher accuracy.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Add More Pollutants: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 Include parameters like </a:t>
            </a: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PM10, CO₂, NO₂, SO₂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, and </a:t>
            </a: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O₃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 for a complete AQI forecast.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Real-Time Alerts: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 Implement mobile or web notifications to warn users about poor air quality.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Machine Learning Enhancement: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 Upgrade to advanced models like </a:t>
            </a: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LSTM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 or </a:t>
            </a: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ARIMA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 for better long-term predictions.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Geographical Expansion: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 Cover more Indian cities and rural areas for broader environmental monitoring.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n-US" sz="1800" b="1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Integration with IoT Devices:</a:t>
            </a:r>
            <a:r>
              <a:rPr lang="en-US" sz="1800" b="0" i="0" u="none" strike="noStrike" cap="none">
                <a:ln>
                  <a:noFill/>
                </a:ln>
                <a:solidFill>
                  <a:schemeClr val="tx1"/>
                </a:solidFill>
                <a:latin typeface="Arial"/>
              </a:rPr>
              <a:t> Connect with local air quality sensors for live data collection and on-site forecasting.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330592" name="Google Shape;61;g5fab984687_2_0"/>
          <p:cNvSpPr txBox="1"/>
          <p:nvPr/>
        </p:nvSpPr>
        <p:spPr bwMode="auto">
          <a:xfrm>
            <a:off x="4315206" y="3214562"/>
            <a:ext cx="3561588" cy="98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SzPts val="2800"/>
              <a:defRPr/>
            </a:pPr>
            <a:r>
              <a:rPr lang="en-US" sz="5000" b="1">
                <a:solidFill>
                  <a:srgbClr val="213163"/>
                </a:solidFill>
              </a:rPr>
              <a:t>Thank You</a:t>
            </a:r>
            <a:endParaRPr lang="en-US" sz="5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customXml/_rels/item1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1.xml"/></Relationships>
</file>

<file path=customXml/_rels/item2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2.xml"/></Relationships>
</file>

<file path=customXml/_rels/item3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5" ma:contentTypeDescription="Create a new document." ma:contentTypeScope="" ma:versionID="7670618c03e54fbae4a17ecb2d0ed10f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3d63de1c5a217044e31e0c8b260d3d71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This value indicates the number of saves or revisions. The application is responsible for updating this value after each revision.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3706AB80-2608-47D7-8AC8-FA6BC8A9B27C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7D9E5D5E-A365-4A49-8140-C8CC82A61608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  <ds:schemaRef ds:uri="http://www.w3.org/2001/XMLSchema-instance"/>
  </ds:schemaRefs>
</ds:datastoreItem>
</file>

<file path=customXml/itemProps3.xml><?xml version="1.0" encoding="utf-8"?>
<ds:datastoreItem xmlns:ds="http://schemas.openxmlformats.org/officeDocument/2006/customXml" ds:itemID="A6559A34-456E-49A1-8157-9E3D18BFAD36">
  <ds:schemaRefs>
    <ds:schemaRef ds:uri="http://purl.org/dc/terms/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c0fa2617-96bd-425d-8578-e93563fe37c5"/>
    <ds:schemaRef ds:uri="http://schemas.openxmlformats.org/package/2006/metadata/core-properties"/>
    <ds:schemaRef ds:uri="9162bd5b-4ed9-4da3-b376-05204580ba3f"/>
    <ds:schemaRef ds:uri="http://www.w3.org/XML/1998/namespace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ONLYOFFICE/9.3.1.8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Moinudeen Syed</dc:creator>
  <cp:lastModifiedBy/>
  <cp:revision>3</cp:revision>
  <dcterms:modified xsi:type="dcterms:W3CDTF">2026-03-14T04:23:49Z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  <property fmtid="{D5CDD505-2E9C-101B-9397-08002B2CF9AE}" pid="3" name="ArticulateGUID">
    <vt:lpwstr>9933309E-0FFA-4A0C-99DC-6F95618B9D68</vt:lpwstr>
  </property>
  <property fmtid="{D5CDD505-2E9C-101B-9397-08002B2CF9AE}" pid="4" name="ArticulatePath">
    <vt:lpwstr>https://edunetfoundationorg-my.sharepoint.com/personal/kaisar_edunetfoundation_org/Documents/Beutified ppt/Microsoft Shell/Skills4Future/Temp</vt:lpwstr>
  </property>
</Properties>
</file>